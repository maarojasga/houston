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270955200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A623"/>
                </a:solidFill>
                <a:latin typeface="Arial"/>
              </a:rPr>
              <a:t>HOUSTON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F1FF"/>
                </a:solidFill>
                <a:latin typeface="Arial"/>
              </a:rPr>
              <a:t>De app de escritorio a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5B8DEF"/>
                </a:solidFill>
                <a:latin typeface="Arial"/>
              </a:rPr>
              <a:t>servicio multi-tenant en GCP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9AA6C8"/>
                </a:solidFill>
                <a:latin typeface="Arial"/>
              </a:rPr>
              <a:t>Aislamiento por equipo a nivel de kernel, sin VPS dedicada, con costo controlado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120640"/>
            <a:ext cx="3840480" cy="18288"/>
          </a:xfrm>
          <a:prstGeom prst="rect">
            <a:avLst/>
          </a:prstGeom>
          <a:solidFill>
            <a:srgbClr val="151D38"/>
          </a:solidFill>
          <a:ln w="12700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AA6C8"/>
                </a:solidFill>
                <a:latin typeface="Arial"/>
              </a:rPr>
              <a:t>Plan técnico + estimación de costos  ·  </a:t>
            </a:r>
            <a:r>
              <a:rPr sz="1200" b="1">
                <a:solidFill>
                  <a:srgbClr val="F5A623"/>
                </a:solidFill>
                <a:latin typeface="Arial"/>
              </a:rPr>
              <a:t>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El objetivo en una frase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DF1FF"/>
                </a:solidFill>
                <a:latin typeface="Arial"/>
              </a:rPr>
              <a:t>Hoy Houston es una app de escritorio (Tauri) donde cada usuario corre su propio engine local. Queremos ofrecerlo </a:t>
            </a:r>
            <a:r>
              <a:rPr sz="1600" b="1">
                <a:solidFill>
                  <a:srgbClr val="5B8DEF"/>
                </a:solidFill>
                <a:latin typeface="Arial"/>
              </a:rPr>
              <a:t>hosteado en GCP</a:t>
            </a:r>
            <a:r>
              <a:rPr sz="1600" b="0">
                <a:solidFill>
                  <a:srgbClr val="EDF1FF"/>
                </a:solidFill>
                <a:latin typeface="Arial"/>
              </a:rPr>
              <a:t>, donde cada equipo solo accede a sus agentes y la separación es de cómputo, no de código.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00400"/>
            <a:ext cx="3429000" cy="292608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3429000" cy="8229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8DEF"/>
                </a:solidFill>
                <a:latin typeface="Arial"/>
              </a:rPr>
              <a:t>PUNTO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Subir a la nube (GCP)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971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Dejar el escritorio.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El engine corre en GCP.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Web + PWA como clientes.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Acceso desde cualquier lado.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3200400"/>
            <a:ext cx="3429000" cy="292608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3200400"/>
            <a:ext cx="34290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3401568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Arial"/>
              </a:rPr>
              <a:t>PUNTO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675887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Cada equipo, sus agentes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4251960"/>
            <a:ext cx="2971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Aislamiento por equipo.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Aunque sea la misma org.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Seguridad por membership.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Nada de fugas entre teams.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8431" y="3200400"/>
            <a:ext cx="3429000" cy="292608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8431" y="3200400"/>
            <a:ext cx="3429000" cy="82296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1" y="3401568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DD598"/>
                </a:solidFill>
                <a:latin typeface="Arial"/>
              </a:rPr>
              <a:t>PUNTO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675887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Aislamiento barato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51960"/>
            <a:ext cx="2971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Casi a nivel de hardware.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Sandbox de kernel (gVisor).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Sin VPS dedicada por team.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Nodos compartidos = económico.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PUNTO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De escritorio a cloud en GCP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9AA6C8"/>
                </a:solidFill>
                <a:latin typeface="Arial"/>
              </a:rPr>
              <a:t>El engine ya es un binario standalone que habla HTTP/WS. No se reescribe; se hostea y se le construye el entorno cloud alrededor.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•  </a:t>
            </a:r>
            <a:r>
              <a:rPr sz="1500" b="1">
                <a:solidFill>
                  <a:srgbClr val="EDF1FF"/>
                </a:solidFill>
                <a:latin typeface="Arial"/>
              </a:rPr>
              <a:t>Engine standalone listo  </a:t>
            </a:r>
            <a:r>
              <a:rPr sz="1500" b="0">
                <a:solidFill>
                  <a:srgbClr val="9AA6C8"/>
                </a:solidFill>
                <a:latin typeface="Arial"/>
              </a:rPr>
              <a:t>— `houston-engine`, parametrizado por HOUSTON_HOME + token. Ya marcado 'Teams → futuro'.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•  </a:t>
            </a:r>
            <a:r>
              <a:rPr sz="1500" b="1">
                <a:solidFill>
                  <a:srgbClr val="EDF1FF"/>
                </a:solidFill>
                <a:latin typeface="Arial"/>
              </a:rPr>
              <a:t>Cliente web reemplaza a Tauri  </a:t>
            </a:r>
            <a:r>
              <a:rPr sz="1500" b="0">
                <a:solidFill>
                  <a:srgbClr val="9AA6C8"/>
                </a:solidFill>
                <a:latin typeface="Arial"/>
              </a:rPr>
              <a:t>— mismas vistas de ui/@houston-ai/*; `examples/smartbooks` ya lo prueba (~400 LOC).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•  </a:t>
            </a:r>
            <a:r>
              <a:rPr sz="1500" b="1">
                <a:solidFill>
                  <a:srgbClr val="EDF1FF"/>
                </a:solidFill>
                <a:latin typeface="Arial"/>
              </a:rPr>
              <a:t>PWA móvil ya existe  </a:t>
            </a:r>
            <a:r>
              <a:rPr sz="1500" b="0">
                <a:solidFill>
                  <a:srgbClr val="9AA6C8"/>
                </a:solidFill>
                <a:latin typeface="Arial"/>
              </a:rPr>
              <a:t>— mismo protocolo, solo cambia el baseUrl.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•  </a:t>
            </a:r>
            <a:r>
              <a:rPr sz="1500" b="1">
                <a:solidFill>
                  <a:srgbClr val="EDF1FF"/>
                </a:solidFill>
                <a:latin typeface="Arial"/>
              </a:rPr>
              <a:t>Login de proveedor headless  </a:t>
            </a:r>
            <a:r>
              <a:rPr sz="1500" b="0">
                <a:solidFill>
                  <a:srgbClr val="9AA6C8"/>
                </a:solidFill>
                <a:latin typeface="Arial"/>
              </a:rPr>
              <a:t>— device-code flow ya soportado (no hay navegador local en la nube).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•  </a:t>
            </a:r>
            <a:r>
              <a:rPr sz="1500" b="1">
                <a:solidFill>
                  <a:srgbClr val="EDF1FF"/>
                </a:solidFill>
                <a:latin typeface="Arial"/>
              </a:rPr>
              <a:t>Base de imagen ya hecha  </a:t>
            </a:r>
            <a:r>
              <a:rPr sz="1500" b="0">
                <a:solidFill>
                  <a:srgbClr val="9AA6C8"/>
                </a:solidFill>
                <a:latin typeface="Arial"/>
              </a:rPr>
              <a:t>— always-on/ trae Dockerfile + compose + systemd.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89320"/>
            <a:ext cx="10744200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0533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Arial"/>
              </a:rPr>
              <a:t>Trabajo real:  </a:t>
            </a:r>
            <a:r>
              <a:rPr sz="1300" b="0">
                <a:solidFill>
                  <a:srgbClr val="EDF1FF"/>
                </a:solidFill>
                <a:latin typeface="Arial"/>
              </a:rPr>
              <a:t>shell web  +  control plane  +  gateway de tenancy  +  provisioning con sandbox.  El núcleo del engine no se toca.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PUNTO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Cada equipo solo ve sus agentes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DF1FF"/>
                </a:solidFill>
                <a:latin typeface="Arial"/>
              </a:rPr>
              <a:t>El tenant es el EQUIPO. La frontera correcta NO es lógica.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4316866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377440"/>
            <a:ext cx="417056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8386" y="2377440"/>
            <a:ext cx="2110467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1538" y="2377440"/>
            <a:ext cx="1964163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Frontera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8853" y="2377440"/>
            <a:ext cx="4316866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005" y="2377440"/>
            <a:ext cx="417056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Veredicto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798064"/>
            <a:ext cx="4316866" cy="56692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98064"/>
            <a:ext cx="417056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Engine compartido + filtro por tenant_id / RBAC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48386" y="2798064"/>
            <a:ext cx="2110467" cy="56692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1538" y="2798064"/>
            <a:ext cx="196416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Código (lógica)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58853" y="2798064"/>
            <a:ext cx="4316866" cy="56692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005" y="2798064"/>
            <a:ext cx="417056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Un bug filtra datos. Es 'separar por prompt'.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364992"/>
            <a:ext cx="4316866" cy="56692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364992"/>
            <a:ext cx="417056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Un proceso engine por equipo, mismo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48386" y="3364992"/>
            <a:ext cx="2110467" cy="56692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1538" y="3364992"/>
            <a:ext cx="196416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Proceso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8853" y="3364992"/>
            <a:ext cx="4316866" cy="56692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005" y="3364992"/>
            <a:ext cx="417056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Mejor, pero comparten kernel y disco.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931920"/>
            <a:ext cx="4316866" cy="56692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3931920"/>
            <a:ext cx="417056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Un engine por equipo en su sandbox de kernel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48386" y="3931920"/>
            <a:ext cx="2110467" cy="56692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1538" y="3931920"/>
            <a:ext cx="196416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microVM / gVisor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58853" y="3931920"/>
            <a:ext cx="4316866" cy="56692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005" y="3931920"/>
            <a:ext cx="417056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Lo elegido: escape = romper el kernel.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83480"/>
            <a:ext cx="10744200" cy="137160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4983480"/>
            <a:ext cx="91440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120640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Decisión:  </a:t>
            </a:r>
            <a:r>
              <a:rPr sz="1500" b="0">
                <a:solidFill>
                  <a:srgbClr val="EDF1FF"/>
                </a:solidFill>
                <a:latin typeface="Arial"/>
              </a:rPr>
              <a:t>tenant = team. Un houston-engine por equipo, en su propio sandbox, con su volumen y su token.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5B8DEF"/>
                </a:solidFill>
                <a:latin typeface="Arial"/>
              </a:rPr>
              <a:t>Org → Team → Agents.  </a:t>
            </a:r>
            <a:r>
              <a:rPr sz="1300" b="0">
                <a:solidFill>
                  <a:srgbClr val="9AA6C8"/>
                </a:solidFill>
                <a:latin typeface="Arial"/>
              </a:rPr>
              <a:t>La org agrupa facturación/admin; el equipo es la unidad de aislamiento. El gateway valida membership antes de rutear; el token del engine nunca llega al cliente.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PUNTO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Aislamiento de kernel, barato, sin VPS dedicada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9AA6C8"/>
                </a:solidFill>
                <a:latin typeface="Arial"/>
              </a:rPr>
              <a:t>GCP no expone Firecracker directo, pero da aislamiento de kernel sobre nodos COMPARTIDOS: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5285232" cy="1874519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5285232" cy="8229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87168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8DEF"/>
                </a:solidFill>
                <a:latin typeface="Arial"/>
              </a:rPr>
              <a:t>DEFAULT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61488"/>
            <a:ext cx="482803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Cloud Run gen2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4828032" cy="777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microVM + gVisor gestionada.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Scale-to-zero: team idle = $0.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Ideal para uso interactivo.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86000"/>
            <a:ext cx="5285232" cy="1874519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286000"/>
            <a:ext cx="5285232" cy="82296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487168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DD598"/>
                </a:solidFill>
                <a:latin typeface="Arial"/>
              </a:rPr>
              <a:t>DEFAULT PRO 24/7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61488"/>
            <a:ext cx="482803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GKE + GKE Sandbox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37560"/>
            <a:ext cx="4828032" cy="777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Pod gVisor por equipo, namespace aislado.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Spot VMs + bin-packing = barato.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Soporta routines 24/7.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A623"/>
                </a:solidFill>
                <a:latin typeface="Arial"/>
              </a:rPr>
              <a:t>Por qué cumple lo que pediste: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5A623"/>
                </a:solidFill>
                <a:latin typeface="Arial"/>
              </a:rPr>
              <a:t>•  </a:t>
            </a:r>
            <a:r>
              <a:rPr sz="1400" b="1">
                <a:solidFill>
                  <a:srgbClr val="EDF1FF"/>
                </a:solidFill>
                <a:latin typeface="Arial"/>
              </a:rPr>
              <a:t>Frontera de kernel  </a:t>
            </a:r>
            <a:r>
              <a:rPr sz="1400" b="0">
                <a:solidFill>
                  <a:srgbClr val="9AA6C8"/>
                </a:solidFill>
                <a:latin typeface="Arial"/>
              </a:rPr>
              <a:t>— gVisor/microVM, no un check de código. No es 'separar por prompt'.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F5A623"/>
                </a:solidFill>
                <a:latin typeface="Arial"/>
              </a:rPr>
              <a:t>•  </a:t>
            </a:r>
            <a:r>
              <a:rPr sz="1400" b="1">
                <a:solidFill>
                  <a:srgbClr val="EDF1FF"/>
                </a:solidFill>
                <a:latin typeface="Arial"/>
              </a:rPr>
              <a:t>Sin VPS por cliente  </a:t>
            </a:r>
            <a:r>
              <a:rPr sz="1400" b="0">
                <a:solidFill>
                  <a:srgbClr val="9AA6C8"/>
                </a:solidFill>
                <a:latin typeface="Arial"/>
              </a:rPr>
              <a:t>— muchos sandboxes bin-packeados en pocos nodos compartidos.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F5A623"/>
                </a:solidFill>
                <a:latin typeface="Arial"/>
              </a:rPr>
              <a:t>•  </a:t>
            </a:r>
            <a:r>
              <a:rPr sz="1400" b="1">
                <a:solidFill>
                  <a:srgbClr val="EDF1FF"/>
                </a:solidFill>
                <a:latin typeface="Arial"/>
              </a:rPr>
              <a:t>Económico  </a:t>
            </a:r>
            <a:r>
              <a:rPr sz="1400" b="0">
                <a:solidFill>
                  <a:srgbClr val="9AA6C8"/>
                </a:solidFill>
                <a:latin typeface="Arial"/>
              </a:rPr>
              <a:t>— Spot VMs + scale-to-zero (free) + un solo control plane compartido.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Componentes en GCP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468880" cy="137160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2468880" cy="8229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8DEF"/>
                </a:solidFill>
                <a:latin typeface="Arial"/>
              </a:rPr>
              <a:t>CLIENTE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Web + PWA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@houston-ai/engine-client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Supabase JWT (Google SSO)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828800"/>
            <a:ext cx="2651760" cy="137160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1828800"/>
            <a:ext cx="265176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202996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Arial"/>
              </a:rPr>
              <a:t>BORDE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304288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Gateway / Router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8803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Valida JWT + membership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Rutea user→team→engine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828800"/>
            <a:ext cx="2468880" cy="137160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0" y="1828800"/>
            <a:ext cx="246888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202996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Arial"/>
              </a:rPr>
              <a:t>PLANO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304288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Provisioner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8803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Orgs / teams / roles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Crea engines + volúmenes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1828800"/>
            <a:ext cx="2057400" cy="137160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1828800"/>
            <a:ext cx="2057400" cy="8229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2029968"/>
            <a:ext cx="1600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8DEF"/>
                </a:solidFill>
                <a:latin typeface="Arial"/>
              </a:rPr>
              <a:t>METADATA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304288"/>
            <a:ext cx="1600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Postgres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880360"/>
            <a:ext cx="1600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orgs, teams,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memberships (RLS)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520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DF1FF"/>
                </a:solidFill>
                <a:latin typeface="Arial"/>
              </a:rPr>
              <a:t>Data plane — un engine aislado por equipo: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931920"/>
            <a:ext cx="3383280" cy="2103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3931920"/>
            <a:ext cx="3383280" cy="82296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133087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DD598"/>
                </a:solidFill>
                <a:latin typeface="Arial"/>
              </a:rPr>
              <a:t>TEAM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407408"/>
            <a:ext cx="2926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Engine (gVisor)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983479"/>
            <a:ext cx="2926080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HOUSTON_HOME vol A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DB + workspaces + .houston/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Token propio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931920"/>
            <a:ext cx="3383280" cy="2103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931920"/>
            <a:ext cx="3383280" cy="82296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4133087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DD598"/>
                </a:solidFill>
                <a:latin typeface="Arial"/>
              </a:rPr>
              <a:t>TEAM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4407408"/>
            <a:ext cx="2926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Engine (gVisor)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4983479"/>
            <a:ext cx="2926080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HOUSTON_HOME vol B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Aislado de A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Token propio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3840" y="3931920"/>
            <a:ext cx="3611880" cy="2103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63840" y="3931920"/>
            <a:ext cx="3611880" cy="8229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4133087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8DEF"/>
                </a:solidFill>
                <a:latin typeface="Arial"/>
              </a:rPr>
              <a:t>TRANSVERSAL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4407408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DF1FF"/>
                </a:solidFill>
                <a:latin typeface="Arial"/>
              </a:rPr>
              <a:t>Plataforma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4983479"/>
            <a:ext cx="3154680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Secret Manager (tokens/keys)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Artifact Registry (imagen firmada)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Logging / Monitoring / Audit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6C8"/>
                </a:solidFill>
                <a:latin typeface="Arial"/>
              </a:rPr>
              <a:t>VPC + Cloud NAT (egress allowlist)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Dos tiers, misma imagen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302328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20240"/>
            <a:ext cx="2156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33848" y="1920240"/>
            <a:ext cx="4029075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7000" y="1920240"/>
            <a:ext cx="388277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Free / Lite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2923" y="1920240"/>
            <a:ext cx="4412796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6075" y="1920240"/>
            <a:ext cx="42664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Pro / Always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340864"/>
            <a:ext cx="2302328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340864"/>
            <a:ext cx="215602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Sustrato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33848" y="2340864"/>
            <a:ext cx="4029075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7000" y="2340864"/>
            <a:ext cx="388277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Cloud Run gen2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2923" y="2340864"/>
            <a:ext cx="4412796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6075" y="2340864"/>
            <a:ext cx="426649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GKE + GKE Sandbox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889504"/>
            <a:ext cx="2302328" cy="548640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89504"/>
            <a:ext cx="215602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Ejecución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3848" y="2889504"/>
            <a:ext cx="4029075" cy="548640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7000" y="2889504"/>
            <a:ext cx="388277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On-demand, scale-to-zero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2923" y="2889504"/>
            <a:ext cx="4412796" cy="548640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6075" y="2889504"/>
            <a:ext cx="426649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24/7 (routines), min 1 réplica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438144"/>
            <a:ext cx="2302328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38144"/>
            <a:ext cx="215602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Aislamiento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33848" y="3438144"/>
            <a:ext cx="4029075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7000" y="3438144"/>
            <a:ext cx="388277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microVM + gVisor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62923" y="3438144"/>
            <a:ext cx="4412796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6075" y="3438144"/>
            <a:ext cx="426649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pod gVisor + namespace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986784"/>
            <a:ext cx="2302328" cy="548640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986784"/>
            <a:ext cx="215602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Billing API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33848" y="3986784"/>
            <a:ext cx="4029075" cy="548640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7000" y="3986784"/>
            <a:ext cx="388277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BYO key (la trae el team)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62923" y="3986784"/>
            <a:ext cx="4412796" cy="548640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6075" y="3986784"/>
            <a:ext cx="426649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Central con markup + cuotas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535424"/>
            <a:ext cx="2302328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4535424"/>
            <a:ext cx="215602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Costo p/ nosotros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33848" y="4535424"/>
            <a:ext cx="4029075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7000" y="4535424"/>
            <a:ext cx="388277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~$0 idle, centavos activo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62923" y="4535424"/>
            <a:ext cx="4412796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6075" y="4535424"/>
            <a:ext cx="426649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~$5–8 / equipo / mes (infra)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5532120"/>
            <a:ext cx="10744200" cy="86868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31520" y="5532120"/>
            <a:ext cx="91440" cy="868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565099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5A623"/>
                </a:solidFill>
                <a:latin typeface="Arial"/>
              </a:rPr>
              <a:t>Promoción free → pro  </a:t>
            </a:r>
            <a:r>
              <a:rPr sz="1350" b="0">
                <a:solidFill>
                  <a:srgbClr val="EDF1FF"/>
                </a:solidFill>
                <a:latin typeface="Arial"/>
              </a:rPr>
              <a:t>= mover el volumen entre sustratos. Mismo binario, mismo HOUSTON_HOME, sin migrar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Defensa en capas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82296" cy="96012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5B8DEF"/>
                </a:solidFill>
                <a:latin typeface="Arial"/>
              </a:rPr>
              <a:t>1 · Identidad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Supabase + Google SSO (ya existe). JWT con claims org/team.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920240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920240"/>
            <a:ext cx="82296" cy="96012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029968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5B8DEF"/>
                </a:solidFill>
                <a:latin typeface="Arial"/>
              </a:rPr>
              <a:t>2 · Autorización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377440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Gateway valida membership. El token del engine nunca sale del borde.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044952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044952"/>
            <a:ext cx="82296" cy="960120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54680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DD598"/>
                </a:solidFill>
                <a:latin typeface="Arial"/>
              </a:rPr>
              <a:t>3 · Cómputo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02152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Sandbox de kernel (gVisor) por team. Garantía dura, no un if.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044952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044952"/>
            <a:ext cx="82296" cy="960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154680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5A623"/>
                </a:solidFill>
                <a:latin typeface="Arial"/>
              </a:rPr>
              <a:t>4 · 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502152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NetworkPolicy deny-all este-oeste + egress allowlist por team.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69664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169664"/>
            <a:ext cx="82296" cy="960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279392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5A623"/>
                </a:solidFill>
                <a:latin typeface="Arial"/>
              </a:rPr>
              <a:t>5 · Secrets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626864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Secret Manager por team, rotación, nunca en imagen ni logs.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169664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2" y="4169664"/>
            <a:ext cx="82296" cy="96012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4279392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5B8DEF"/>
                </a:solidFill>
                <a:latin typeface="Arial"/>
              </a:rPr>
              <a:t>6 · Datos reposo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626864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Buckets/discos por team con CMEK. Path-traversal ya cubierto.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94376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5294376"/>
            <a:ext cx="82296" cy="96012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404104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5B8DEF"/>
                </a:solidFill>
                <a:latin typeface="Arial"/>
              </a:rPr>
              <a:t>7 · Suministro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751576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Artifact Registry + scan + Binary Authorization (solo firmadas).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5294376"/>
            <a:ext cx="5285232" cy="96012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99632" y="5294376"/>
            <a:ext cx="82296" cy="960120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5404104"/>
            <a:ext cx="4919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DD598"/>
                </a:solidFill>
                <a:latin typeface="Arial"/>
              </a:rPr>
              <a:t>8 · Auditoría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5751576"/>
            <a:ext cx="49194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Cloud Audit Logs + tracing por request. Quién accedió a qué.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Estimación — supuestos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9AA6C8"/>
                </a:solidFill>
                <a:latin typeface="Arial"/>
              </a:rPr>
              <a:t>Orden de magnitud, región us-central1, USD/mes. Infra propia; el costo de API LLM va aparte (ver nota).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Fijo / compartido (control plane)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046220" cy="39319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697480"/>
            <a:ext cx="3899916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Concepto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77740" y="2697480"/>
            <a:ext cx="1348740" cy="39319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50892" y="2697480"/>
            <a:ext cx="1202436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USD/mes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90672"/>
            <a:ext cx="404622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090672"/>
            <a:ext cx="389991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GKE cluster management fee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77740" y="3090672"/>
            <a:ext cx="134874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0892" y="3090672"/>
            <a:ext cx="120243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465576"/>
            <a:ext cx="404622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65576"/>
            <a:ext cx="389991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Cloud SQL (control plane)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77740" y="3465576"/>
            <a:ext cx="134874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50892" y="3465576"/>
            <a:ext cx="120243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$35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840480"/>
            <a:ext cx="404622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840480"/>
            <a:ext cx="389991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Gateway + control plane (Cloud Run)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77740" y="3840480"/>
            <a:ext cx="134874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50892" y="3840480"/>
            <a:ext cx="120243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215384"/>
            <a:ext cx="404622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215384"/>
            <a:ext cx="389991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Cloud NAT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77740" y="4215384"/>
            <a:ext cx="134874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50892" y="4215384"/>
            <a:ext cx="120243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$33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590288"/>
            <a:ext cx="404622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590288"/>
            <a:ext cx="389991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Logging / Monitoring /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77740" y="4590288"/>
            <a:ext cx="134874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50892" y="4590288"/>
            <a:ext cx="120243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965192"/>
            <a:ext cx="404622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965192"/>
            <a:ext cx="389991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Secret Manager + misc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77740" y="4965192"/>
            <a:ext cx="134874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50892" y="4965192"/>
            <a:ext cx="120243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340096"/>
            <a:ext cx="404622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340096"/>
            <a:ext cx="389991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TOTAL FIJO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7740" y="5340096"/>
            <a:ext cx="134874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50892" y="5340096"/>
            <a:ext cx="120243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≈ $186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2860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Variable por equipo (infra, sin API)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97480"/>
            <a:ext cx="2537460" cy="393192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3952" y="2697480"/>
            <a:ext cx="2391156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Concepto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38260" y="2697480"/>
            <a:ext cx="1268730" cy="393192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11412" y="2697480"/>
            <a:ext cx="1122426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 24/7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06990" y="2697480"/>
            <a:ext cx="1268730" cy="393192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80142" y="2697480"/>
            <a:ext cx="1122426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Free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090672"/>
            <a:ext cx="253746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73952" y="3090672"/>
            <a:ext cx="239115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Cómputo (Spot/CR)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38260" y="3090672"/>
            <a:ext cx="126873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11412" y="3090672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$3.0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206990" y="3090672"/>
            <a:ext cx="126873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80142" y="3090672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$0–2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3465576"/>
            <a:ext cx="253746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73952" y="3465576"/>
            <a:ext cx="239115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Storage GCS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938260" y="3465576"/>
            <a:ext cx="126873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11412" y="3465576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$0.30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206990" y="3465576"/>
            <a:ext cx="126873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280142" y="3465576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$0.10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840480"/>
            <a:ext cx="253746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73952" y="3840480"/>
            <a:ext cx="239115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NAT / egress datos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38260" y="3840480"/>
            <a:ext cx="126873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11412" y="3840480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$1.0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206990" y="3840480"/>
            <a:ext cx="126873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80142" y="3840480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~$0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4215384"/>
            <a:ext cx="253746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73952" y="4215384"/>
            <a:ext cx="239115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Logs / secrets / misc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38260" y="4215384"/>
            <a:ext cx="126873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11412" y="4215384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$0.70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206990" y="4215384"/>
            <a:ext cx="1268730" cy="374904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80142" y="4215384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~$0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4590288"/>
            <a:ext cx="253746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73952" y="4590288"/>
            <a:ext cx="239115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DF1FF"/>
                </a:solidFill>
                <a:latin typeface="Arial"/>
              </a:rPr>
              <a:t>POR EQUIPO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38260" y="4590288"/>
            <a:ext cx="126873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11412" y="4590288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≈ $5–8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06990" y="4590288"/>
            <a:ext cx="1268730" cy="374904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280142" y="4590288"/>
            <a:ext cx="1122426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6C8"/>
                </a:solidFill>
                <a:latin typeface="Arial"/>
              </a:rPr>
              <a:t>≈ $0–2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0" y="5440680"/>
            <a:ext cx="5074920" cy="105156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583680" y="553212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API LLM:  </a:t>
            </a:r>
            <a:r>
              <a:rPr sz="1200" b="0">
                <a:solidFill>
                  <a:srgbClr val="9AA6C8"/>
                </a:solidFill>
                <a:latin typeface="Arial"/>
              </a:rPr>
              <a:t>Free = BYO (costo $0 para nosotros).  Pro = pass-through + markup → ingreso positivo, no costo neto.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5943600"/>
            <a:ext cx="5394960" cy="54864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" y="601675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26D6D"/>
                </a:solidFill>
                <a:latin typeface="Arial"/>
              </a:rPr>
              <a:t>Filestore (caro) solo opt-in.  </a:t>
            </a:r>
            <a:r>
              <a:rPr sz="1150" b="0">
                <a:solidFill>
                  <a:srgbClr val="9AA6C8"/>
                </a:solidFill>
                <a:latin typeface="Arial"/>
              </a:rPr>
              <a:t>Default = GCS+gcsfuse.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Escenarios y comparación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858548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20240"/>
            <a:ext cx="271224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Escenario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3590068" y="1920240"/>
            <a:ext cx="1281418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3220" y="1920240"/>
            <a:ext cx="113511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Fijo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1486" y="1920240"/>
            <a:ext cx="2661407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44638" y="1920240"/>
            <a:ext cx="2515103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Variable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32894" y="1920240"/>
            <a:ext cx="2365695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6046" y="1920240"/>
            <a:ext cx="221939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Total infra/mes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98589" y="1920240"/>
            <a:ext cx="1577130" cy="420624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1741" y="1920240"/>
            <a:ext cx="143082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Por equipo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340864"/>
            <a:ext cx="2858548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340864"/>
            <a:ext cx="271224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50 equipos Pro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90068" y="2340864"/>
            <a:ext cx="1281418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3220" y="2340864"/>
            <a:ext cx="113511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$186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1486" y="2340864"/>
            <a:ext cx="2661407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4638" y="2340864"/>
            <a:ext cx="251510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50 × $7 = $350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32894" y="2340864"/>
            <a:ext cx="2365695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6046" y="2340864"/>
            <a:ext cx="221939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$536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98589" y="2340864"/>
            <a:ext cx="1577130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71741" y="2340864"/>
            <a:ext cx="143082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$10.7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816352"/>
            <a:ext cx="2858548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2816352"/>
            <a:ext cx="271224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200 equipos Pro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90068" y="2816352"/>
            <a:ext cx="1281418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63220" y="2816352"/>
            <a:ext cx="113511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$186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1486" y="2816352"/>
            <a:ext cx="2661407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44638" y="2816352"/>
            <a:ext cx="251510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200 × $6 = $1,200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32894" y="2816352"/>
            <a:ext cx="2365695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6046" y="2816352"/>
            <a:ext cx="221939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$1,386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98589" y="2816352"/>
            <a:ext cx="1577130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71741" y="2816352"/>
            <a:ext cx="143082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$6.9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3291840"/>
            <a:ext cx="2858548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3291840"/>
            <a:ext cx="271224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100 Pro + 400 Free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90068" y="3291840"/>
            <a:ext cx="1281418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63220" y="3291840"/>
            <a:ext cx="113511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$186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71486" y="3291840"/>
            <a:ext cx="2661407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44638" y="3291840"/>
            <a:ext cx="251510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$700 + $400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32894" y="3291840"/>
            <a:ext cx="2365695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6046" y="3291840"/>
            <a:ext cx="221939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$1,286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98589" y="3291840"/>
            <a:ext cx="1577130" cy="47548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71741" y="3291840"/>
            <a:ext cx="143082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$2.6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3767328"/>
            <a:ext cx="2858548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3767328"/>
            <a:ext cx="271224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EDF1FF"/>
                </a:solidFill>
                <a:latin typeface="Arial"/>
              </a:rPr>
              <a:t>500 equipos Pro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90068" y="3767328"/>
            <a:ext cx="1281418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63220" y="3767328"/>
            <a:ext cx="113511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$186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71486" y="3767328"/>
            <a:ext cx="2661407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44638" y="3767328"/>
            <a:ext cx="251510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500 × $5.5 = $2,750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32894" y="3767328"/>
            <a:ext cx="2365695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6046" y="3767328"/>
            <a:ext cx="221939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$2,936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98589" y="3767328"/>
            <a:ext cx="1577130" cy="475488"/>
          </a:xfrm>
          <a:prstGeom prst="rect">
            <a:avLst/>
          </a:prstGeom>
          <a:solidFill>
            <a:srgbClr val="101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71741" y="3767328"/>
            <a:ext cx="1430826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9AA6C8"/>
                </a:solidFill>
                <a:latin typeface="Arial"/>
              </a:rPr>
              <a:t>≈ $5.9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5720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A623"/>
                </a:solidFill>
                <a:latin typeface="Arial"/>
              </a:rPr>
              <a:t>Vs. el modelo que rechazamos (1 VPS dedicada por equipo):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498348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Arial"/>
              </a:rPr>
              <a:t>•  </a:t>
            </a:r>
            <a:r>
              <a:rPr sz="1350" b="1">
                <a:solidFill>
                  <a:srgbClr val="EDF1FF"/>
                </a:solidFill>
                <a:latin typeface="Arial"/>
              </a:rPr>
              <a:t>200 VPS dedicadas (e2-small on-demand)  </a:t>
            </a:r>
            <a:r>
              <a:rPr sz="1350" b="0">
                <a:solidFill>
                  <a:srgbClr val="9AA6C8"/>
                </a:solidFill>
                <a:latin typeface="Arial"/>
              </a:rPr>
              <a:t>≈ $2,600/mes solo cómputo — sin bin-packing ni scale-to-zero, más ops.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Arial"/>
              </a:rPr>
              <a:t>•  </a:t>
            </a:r>
            <a:r>
              <a:rPr sz="1350" b="1">
                <a:solidFill>
                  <a:srgbClr val="EDF1FF"/>
                </a:solidFill>
                <a:latin typeface="Arial"/>
              </a:rPr>
              <a:t>Nuestro modelo a 200 Pro  </a:t>
            </a:r>
            <a:r>
              <a:rPr sz="1350" b="0">
                <a:solidFill>
                  <a:srgbClr val="9AA6C8"/>
                </a:solidFill>
                <a:latin typeface="Arial"/>
              </a:rPr>
              <a:t>≈ $1,386/mes con aislamiento de kernel MÁS fuerte. ~2x más barato.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Arial"/>
              </a:rPr>
              <a:t>•  </a:t>
            </a:r>
            <a:r>
              <a:rPr sz="1350" b="1">
                <a:solidFill>
                  <a:srgbClr val="EDF1FF"/>
                </a:solidFill>
                <a:latin typeface="Arial"/>
              </a:rPr>
              <a:t>La economía mejora con escala  </a:t>
            </a:r>
            <a:r>
              <a:rPr sz="1350" b="0">
                <a:solidFill>
                  <a:srgbClr val="9AA6C8"/>
                </a:solidFill>
                <a:latin typeface="Arial"/>
              </a:rPr>
              <a:t>— mejor bin-packing baja el costo por equipo a medida que crecemos.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Roadmap por fases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685800" cy="658368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B1022"/>
                </a:solidFill>
                <a:latin typeface="Arial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1828800"/>
            <a:ext cx="9921240" cy="65836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1883664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DF1FF"/>
                </a:solidFill>
                <a:latin typeface="Arial"/>
              </a:rPr>
              <a:t>Web shell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83664"/>
            <a:ext cx="6766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AA6C8"/>
                </a:solidFill>
                <a:latin typeface="Arial"/>
              </a:rPr>
              <a:t>Frontend web sobre engine-client (sin Tauri). 1 engine remoto.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96896"/>
            <a:ext cx="685800" cy="65836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96896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B1022"/>
                </a:solidFill>
                <a:latin typeface="Arial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4480" y="2596896"/>
            <a:ext cx="9921240" cy="65836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265176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DF1FF"/>
                </a:solidFill>
                <a:latin typeface="Arial"/>
              </a:rPr>
              <a:t>Tenancy + control plane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651760"/>
            <a:ext cx="6766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AA6C8"/>
                </a:solidFill>
                <a:latin typeface="Arial"/>
              </a:rPr>
              <a:t>Orgs/teams/memberships + gateway JWT + provisioner.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64991"/>
            <a:ext cx="685800" cy="658368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64991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B1022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3364991"/>
            <a:ext cx="9921240" cy="65836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19856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DF1FF"/>
                </a:solidFill>
                <a:latin typeface="Arial"/>
              </a:rPr>
              <a:t>Aislamiento híbrido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19856"/>
            <a:ext cx="6766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AA6C8"/>
                </a:solidFill>
                <a:latin typeface="Arial"/>
              </a:rPr>
              <a:t>Cloud Run gen2 (free) + GKE Sandbox (pro) + volúmenes + secrets.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33087"/>
            <a:ext cx="685800" cy="658368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33087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B102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54480" y="4133087"/>
            <a:ext cx="9921240" cy="65836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0" y="4187951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DF1FF"/>
                </a:solidFill>
                <a:latin typeface="Arial"/>
              </a:rPr>
              <a:t>Hardening red + datos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187951"/>
            <a:ext cx="6766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AA6C8"/>
                </a:solidFill>
                <a:latin typeface="Arial"/>
              </a:rPr>
              <a:t>Egress allowlist, NetworkPolicy, CMEK, Binary Authorization.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901183"/>
            <a:ext cx="685800" cy="65836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901183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B1022"/>
                </a:solidFill>
                <a:latin typeface="Arial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54480" y="4901183"/>
            <a:ext cx="9921240" cy="65836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0" y="4956047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DF1FF"/>
                </a:solidFill>
                <a:latin typeface="Arial"/>
              </a:rPr>
              <a:t>Billing dual + cuotas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956047"/>
            <a:ext cx="6766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AA6C8"/>
                </a:solidFill>
                <a:latin typeface="Arial"/>
              </a:rPr>
              <a:t>BYO (free) + central markup (pro), medición y rate-limit.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669279"/>
            <a:ext cx="685800" cy="658368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69279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B1022"/>
                </a:solidFill>
                <a:latin typeface="Arial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54480" y="5669279"/>
            <a:ext cx="9921240" cy="658368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37360" y="5724143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DF1FF"/>
                </a:solidFill>
                <a:latin typeface="Arial"/>
              </a:rPr>
              <a:t>Producto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724143"/>
            <a:ext cx="6766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AA6C8"/>
                </a:solidFill>
                <a:latin typeface="Arial"/>
              </a:rPr>
              <a:t>Panel admin, roles, observabilidad por tenant, SLA.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DF1FF"/>
                </a:solidFill>
                <a:latin typeface="Arial"/>
              </a:rPr>
              <a:t>Decisiones tomadas y próximos pasos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10789920" cy="18288"/>
          </a:xfrm>
          <a:prstGeom prst="rect">
            <a:avLst/>
          </a:prstGeom>
          <a:solidFill>
            <a:srgbClr val="151D38"/>
          </a:solidFill>
          <a:ln w="9525">
            <a:solidFill>
              <a:srgbClr val="5B8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A623"/>
                </a:solidFill>
                <a:latin typeface="Arial"/>
              </a:rPr>
              <a:t>Lo que ya está decidido: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10607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>
                <a:solidFill>
                  <a:srgbClr val="F5A623"/>
                </a:solidFill>
                <a:latin typeface="Arial"/>
              </a:rPr>
              <a:t>•  </a:t>
            </a:r>
            <a:r>
              <a:rPr sz="1450" b="1">
                <a:solidFill>
                  <a:srgbClr val="EDF1FF"/>
                </a:solidFill>
                <a:latin typeface="Arial"/>
              </a:rPr>
              <a:t>Tenant = equipo  </a:t>
            </a:r>
            <a:r>
              <a:rPr sz="1450" b="0">
                <a:solidFill>
                  <a:srgbClr val="9AA6C8"/>
                </a:solidFill>
                <a:latin typeface="Arial"/>
              </a:rPr>
              <a:t>— un engine aislado por team, sandbox de kernel (no RBAC lógico).</a:t>
            </a:r>
          </a:p>
          <a:p>
            <a:pPr algn="l">
              <a:spcAft>
                <a:spcPts val="800"/>
              </a:spcAft>
            </a:pPr>
            <a:r>
              <a:rPr sz="1450" b="1">
                <a:solidFill>
                  <a:srgbClr val="F5A623"/>
                </a:solidFill>
                <a:latin typeface="Arial"/>
              </a:rPr>
              <a:t>•  </a:t>
            </a:r>
            <a:r>
              <a:rPr sz="1450" b="1">
                <a:solidFill>
                  <a:srgbClr val="EDF1FF"/>
                </a:solidFill>
                <a:latin typeface="Arial"/>
              </a:rPr>
              <a:t>Sustrato híbrido  </a:t>
            </a:r>
            <a:r>
              <a:rPr sz="1450" b="0">
                <a:solidFill>
                  <a:srgbClr val="9AA6C8"/>
                </a:solidFill>
                <a:latin typeface="Arial"/>
              </a:rPr>
              <a:t>— Cloud Run (free) + GKE Sandbox (pro 24/7) desde el inicio.</a:t>
            </a:r>
          </a:p>
          <a:p>
            <a:pPr algn="l">
              <a:spcAft>
                <a:spcPts val="800"/>
              </a:spcAft>
            </a:pPr>
            <a:r>
              <a:rPr sz="1450" b="1">
                <a:solidFill>
                  <a:srgbClr val="F5A623"/>
                </a:solidFill>
                <a:latin typeface="Arial"/>
              </a:rPr>
              <a:t>•  </a:t>
            </a:r>
            <a:r>
              <a:rPr sz="1450" b="1">
                <a:solidFill>
                  <a:srgbClr val="EDF1FF"/>
                </a:solidFill>
                <a:latin typeface="Arial"/>
              </a:rPr>
              <a:t>Billing dual  </a:t>
            </a:r>
            <a:r>
              <a:rPr sz="1450" b="0">
                <a:solidFill>
                  <a:srgbClr val="9AA6C8"/>
                </a:solidFill>
                <a:latin typeface="Arial"/>
              </a:rPr>
              <a:t>— BYO key en free, central con markup + cuotas en pro.</a:t>
            </a:r>
          </a:p>
          <a:p>
            <a:pPr algn="l">
              <a:spcAft>
                <a:spcPts val="800"/>
              </a:spcAft>
            </a:pPr>
            <a:r>
              <a:rPr sz="1450" b="1">
                <a:solidFill>
                  <a:srgbClr val="F5A623"/>
                </a:solidFill>
                <a:latin typeface="Arial"/>
              </a:rPr>
              <a:t>•  </a:t>
            </a:r>
            <a:r>
              <a:rPr sz="1450" b="1">
                <a:solidFill>
                  <a:srgbClr val="EDF1FF"/>
                </a:solidFill>
                <a:latin typeface="Arial"/>
              </a:rPr>
              <a:t>Caso central = 24/7 routines  </a:t>
            </a:r>
            <a:r>
              <a:rPr sz="1450" b="0">
                <a:solidFill>
                  <a:srgbClr val="9AA6C8"/>
                </a:solidFill>
                <a:latin typeface="Arial"/>
              </a:rPr>
              <a:t>— define Pro como producto; scale-to-zero solo en free.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572000"/>
            <a:ext cx="10744200" cy="1737360"/>
          </a:xfrm>
          <a:prstGeom prst="rect">
            <a:avLst/>
          </a:prstGeom>
          <a:solidFill>
            <a:srgbClr val="15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91440" cy="1737360"/>
          </a:xfrm>
          <a:prstGeom prst="rect">
            <a:avLst/>
          </a:prstGeom>
          <a:solidFill>
            <a:srgbClr val="3DD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241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3DD598"/>
                </a:solidFill>
                <a:latin typeface="Arial"/>
              </a:rPr>
              <a:t>Próximos pasos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EDF1FF"/>
                </a:solidFill>
                <a:latin typeface="Arial"/>
              </a:rPr>
              <a:t>1.  Confirmar storage default del tier Pro (propuesta: GCS, Filestore opt-in).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EDF1FF"/>
                </a:solidFill>
                <a:latin typeface="Arial"/>
              </a:rPr>
              <a:t>2.  Arrancar Fase 0: shell web sobre @houston-ai/engine-client.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EDF1FF"/>
                </a:solidFill>
                <a:latin typeface="Arial"/>
              </a:rPr>
              <a:t>3.  Diseñar el esquema del control plane (orgs/teams/memberships + RLS).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